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大家好，今天我将向大家汇报关于ClawsJoy和Joy Mate的战略升级规划。本次规划的核心是从过去的功能开发模式，全面转向以用户体验和场景应用为核心的价值创造模式。我们的目标是打造真正解决用户痛点、融入用户日常的智能工具。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五个部分。首先是执行摘要，概括我们的核心战略和目标。接着，我们将深入分析市场洞察与战略机遇。第三部分将详细介绍我们规划的三大核心业务板块。第四部分是第一阶段的具体工作目标和执行路径。最后，进行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首先是执行摘要。我们的核心战略将发生根本性转变，从过去单纯追求功能堆砌，转向真正关注用户体验和场景应用。在产品定位上，ClawsJoy将作为企业级的AI操作系统，而Joy Mate则定位为用户友好的个人智能助手，两者协同，构成我们的产品矩阵。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实现战略目标，我们构建了三大业务支柱：个人AI助手、企业AI生产力和垂直行业解决方案，全面覆盖个人与企业用户。在未来两周，我们将集中资源完成四个关键任务，实现产品从“能用”到“好用”的质变，包括优化Joy Mate体验、强化ClawsJoy功能、拓展新场景和布局企业服务。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接下来看市场洞察。当前国内市场呈现五大核心趋势，为我们的战略转型提供了绝佳机遇。AI应用平民化、内容创作需求爆发、SaaS普及、数据安全合规以及私域运营深化，这些趋势分别对应了我们Joy Mate和ClawsJoy的核心定位、价值、商业模式和集成方向。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基于市场机遇，我们规划了三大核心业务板块。第一是面向个人的Joy Mate，定位为“第二大脑”，为个人用户提供一站式智能服务；第二是面向企业的ClawsJoy，旨在“赋能企业智能增长”，为企业提供全链路的AI解决方案；第三是针对特定行业的深度解决方案，以“深耕场景，创造壁垒”为核心，在特定行业建立独特的竞争优势。这三者共同构成了我们立体化的产品矩阵，实现从个人到企业、从通用到垂直的全方位覆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首先看个人AI助手Joy Mate。我们聚焦于用户最核心的痛点，提供智能对话、文案生成、个人知识库、日程管理和图片处理等功能。其中，智能对话和文案生成是我们的最高优先级（P0）功能，旨在直接解决用户的效率和创造力瓶颈。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企业AI生产力平台ClawsJoy。我们的核心目标是赋能企业智能增长。最高优先级（P0）的功能是宣传片自动生成，旨在帮助企业极大地降本增效。同时，我们还规划了客户服务Bot、社交媒体运营、内部知识问答等多个P1级功能，全面提升企业运营效率。此外，我们也关注长期的业务价值，提供了报表与数据分析的P2级功能，帮助企业更轻松地从数据中获取洞察，实现业务的持续增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大业务板块是垂直行业解决方案。我们将深耕特定行业，建立竞争壁垒。首先聚焦于自媒体行业，提供从选题到脚本的一站式内容创作服务，这是我们的P0级任务。后续将逐步拓展到电商、餐饮、教育和房产等行业，提供深度定制的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现在进入第四部分，第一阶段的工作目标。首先，我们将用一周时间，全力优化Joy Mate的用户体验。我们的目标是将其从“能用”升级为“好用”，并设定了具体的KPI，如降低响应时间和中断率，提升留存率。为此，我们规划了语音交互、界面美化、新用户引导等五项关键任务。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个目标是用3天时间完善ClawsJoy的宣传片制作功能。我们的目标是将其打造成明星功能，实现一键式高质量视频生成。为此，我们将开发多城市、多风格的模板，扩展素材库，并优化制作过程中的用户体验。我们的KPI是制作成功率达到99%，平均制作时间缩短到5分钟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个目标是在一周内上线社交平台内容助手。我们将针对小红书、公众号、短视频和朋友圈等主流平台，提供文案生成、排版、脚本创作等功能。我们的目标是实现日均千次使用和70%的文案采纳率，帮助用户高效地进行内容创作和发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项任务是在两周内完成ClawsJoy与企业微信的初步集成。这是我们布局企业服务的关键一步。我们将开发企微Bot，并实现多租户隔离以保证数据安全。同时，支持企业上传知识库进行客服问答训练，并提供营销文案推送功能。我们的目标是完成10家种子客户的测试，并将自动回复准确率提升到90%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最后，进行总结与展望。我们的战略核心是：ClawsJoy追求“好用”，Joy Mate聚焦“场景”。我们将深耕内容创作与智能助手领域，打造领先的AI工具矩阵。展望未来，我们需要深入思考GTM策略、PLG增长飞轮、技术壁垒构建以及生态系统建设这四个关键问题，以确保长期成功。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19.png" Type="http://schemas.openxmlformats.org/officeDocument/2006/relationships/image"/><Relationship Id="rId16" Target="../media/image20.svg" Type="http://schemas.openxmlformats.org/officeDocument/2006/relationships/image"/><Relationship Id="rId17" Target="../notesSlides/notesSlide4.xml" Type="http://schemas.openxmlformats.org/officeDocument/2006/relationships/notesSlide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21.png" Type="http://schemas.openxmlformats.org/officeDocument/2006/relationships/image"/><Relationship Id="rId6" Target="../media/image22.svg" Type="http://schemas.openxmlformats.org/officeDocument/2006/relationships/image"/><Relationship Id="rId7" Target="../media/image23.png" Type="http://schemas.openxmlformats.org/officeDocument/2006/relationships/image"/><Relationship Id="rId8" Target="../media/image24.svg" Type="http://schemas.openxmlformats.org/officeDocument/2006/relationships/image"/><Relationship Id="rId9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13" Target="../notesSlides/notesSlide7.xml" Type="http://schemas.openxmlformats.org/officeDocument/2006/relationships/notesSlide"/><Relationship Id="rId2" Target="../media/image2.jpe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svg" Type="http://schemas.openxmlformats.org/officeDocument/2006/relationships/image"/><Relationship Id="rId13" Target="../media/image45.png" Type="http://schemas.openxmlformats.org/officeDocument/2006/relationships/image"/><Relationship Id="rId14" Target="../media/image46.svg" Type="http://schemas.openxmlformats.org/officeDocument/2006/relationships/image"/><Relationship Id="rId15" Target="../media/image47.png" Type="http://schemas.openxmlformats.org/officeDocument/2006/relationships/image"/><Relationship Id="rId16" Target="../media/image48.svg" Type="http://schemas.openxmlformats.org/officeDocument/2006/relationships/image"/><Relationship Id="rId17" Target="../media/image49.png" Type="http://schemas.openxmlformats.org/officeDocument/2006/relationships/image"/><Relationship Id="rId18" Target="../media/image50.svg" Type="http://schemas.openxmlformats.org/officeDocument/2006/relationships/image"/><Relationship Id="rId19" Target="../media/image19.png" Type="http://schemas.openxmlformats.org/officeDocument/2006/relationships/image"/><Relationship Id="rId2" Target="../media/image2.jpeg" Type="http://schemas.openxmlformats.org/officeDocument/2006/relationships/image"/><Relationship Id="rId20" Target="../media/image20.svg" Type="http://schemas.openxmlformats.org/officeDocument/2006/relationships/image"/><Relationship Id="rId21" Target="../notesSlides/notesSlide10.xml" Type="http://schemas.openxmlformats.org/officeDocument/2006/relationships/notesSlide"/><Relationship Id="rId3" Target="../media/image35.png" Type="http://schemas.openxmlformats.org/officeDocument/2006/relationships/image"/><Relationship Id="rId4" Target="../media/image36.sv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39.png" Type="http://schemas.openxmlformats.org/officeDocument/2006/relationships/image"/><Relationship Id="rId8" Target="../media/image40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8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61.jpeg" Type="http://schemas.openxmlformats.org/officeDocument/2006/relationships/image"/><Relationship Id="rId14" Target="../notesSlides/notesSlide11.xml" Type="http://schemas.openxmlformats.org/officeDocument/2006/relationships/notesSlide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53.png" Type="http://schemas.openxmlformats.org/officeDocument/2006/relationships/image"/><Relationship Id="rId6" Target="../media/image54.svg" Type="http://schemas.openxmlformats.org/officeDocument/2006/relationships/image"/><Relationship Id="rId7" Target="../media/image55.png" Type="http://schemas.openxmlformats.org/officeDocument/2006/relationships/image"/><Relationship Id="rId8" Target="../media/image56.sv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.jpeg" Type="http://schemas.openxmlformats.org/officeDocument/2006/relationships/image"/><Relationship Id="rId3" Target="../media/image62.jpeg" Type="http://schemas.openxmlformats.org/officeDocument/2006/relationships/image"/><Relationship Id="rId4" Target="../media/image63.jpeg" Type="http://schemas.openxmlformats.org/officeDocument/2006/relationships/image"/><Relationship Id="rId5" Target="../media/image64.png" Type="http://schemas.openxmlformats.org/officeDocument/2006/relationships/image"/><Relationship Id="rId6" Target="../media/image65.svg" Type="http://schemas.openxmlformats.org/officeDocument/2006/relationships/image"/><Relationship Id="rId7" Target="../media/image66.png" Type="http://schemas.openxmlformats.org/officeDocument/2006/relationships/image"/><Relationship Id="rId8" Target="../media/image67.svg" Type="http://schemas.openxmlformats.org/officeDocument/2006/relationships/image"/><Relationship Id="rId9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5.png" Type="http://schemas.openxmlformats.org/officeDocument/2006/relationships/image"/><Relationship Id="rId11" Target="../media/image76.svg" Type="http://schemas.openxmlformats.org/officeDocument/2006/relationships/image"/><Relationship Id="rId12" Target="../notesSlides/notesSlide13.xml" Type="http://schemas.openxmlformats.org/officeDocument/2006/relationships/notesSlide"/><Relationship Id="rId2" Target="../media/image2.jpeg" Type="http://schemas.openxmlformats.org/officeDocument/2006/relationships/image"/><Relationship Id="rId3" Target="../media/image68.jpeg" Type="http://schemas.openxmlformats.org/officeDocument/2006/relationships/image"/><Relationship Id="rId4" Target="../media/image69.png" Type="http://schemas.openxmlformats.org/officeDocument/2006/relationships/image"/><Relationship Id="rId5" Target="../media/image70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2.svg" Type="http://schemas.openxmlformats.org/officeDocument/2006/relationships/image"/><Relationship Id="rId11" Target="../notesSlides/notesSlide14.xml" Type="http://schemas.openxmlformats.org/officeDocument/2006/relationships/notesSlide"/><Relationship Id="rId2" Target="../media/image2.jpeg" Type="http://schemas.openxmlformats.org/officeDocument/2006/relationships/image"/><Relationship Id="rId3" Target="../media/image51.png" Type="http://schemas.openxmlformats.org/officeDocument/2006/relationships/image"/><Relationship Id="rId4" Target="../media/image52.sv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png" Type="http://schemas.openxmlformats.org/officeDocument/2006/relationships/image"/><Relationship Id="rId8" Target="../media/image80.svg" Type="http://schemas.openxmlformats.org/officeDocument/2006/relationships/image"/><Relationship Id="rId9" Target="../media/image8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3.jpeg" Type="http://schemas.openxmlformats.org/officeDocument/2006/relationships/image"/><Relationship Id="rId3" Target="../notesSlides/notesSlide15.xml" Type="http://schemas.openxmlformats.org/officeDocument/2006/relationships/notesSlide"/><Relationship Id="rId4" Target="../media/image8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2032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 &amp; Joy Mate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3302000"/>
            <a:ext cx="10668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8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战略升级规划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495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5334000"/>
            <a:ext cx="1066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3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</a:t>
            </a:r>
            <a:r>
              <a:rPr lang="en-US" b="true" i="false" strike="noStrike" u="none" sz="3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</a:t>
            </a:r>
            <a:r>
              <a:rPr lang="en-US" b="false" i="false" strike="noStrike" u="none" sz="320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false" strike="noStrike" u="none" sz="3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场景应用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false" i="false" strike="noStrike" u="none" sz="28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032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83333"/>
              </a:lnSpc>
              <a:defRPr/>
            </a:pPr>
            <a:r>
              <a:rPr lang="en-US" b="true" i="false" strike="noStrike" u="none" sz="4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执行摘要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核心战略、产品定位与业务支柱</a:t>
            </a:r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4445000" y="1778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4699000" y="2032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83333"/>
              </a:lnSpc>
              <a:defRPr/>
            </a:pPr>
            <a:r>
              <a:rPr lang="en-US" b="true" i="false" strike="noStrike" u="none" sz="4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市场洞察与战略机遇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国内市场五大核心趋势分析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128000" y="1778000"/>
            <a:ext cx="3302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382000" y="2032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83333"/>
              </a:lnSpc>
              <a:defRPr/>
            </a:pPr>
            <a:r>
              <a:rPr lang="en-US" b="true" i="false" strike="noStrike" u="none" sz="4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核心业务板块规划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个人、企业、垂直行业三大业务矩阵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968500" y="4191000"/>
            <a:ext cx="393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2222500" y="4445000"/>
            <a:ext cx="342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83333"/>
              </a:lnSpc>
              <a:defRPr/>
            </a:pPr>
            <a:r>
              <a:rPr lang="en-US" b="true" i="false" strike="noStrike" u="none" sz="4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第一阶段工作目标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未来两周内的具体执行路径与关键任务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86500" y="4191000"/>
            <a:ext cx="393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40500" y="4445000"/>
            <a:ext cx="3429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83333"/>
              </a:lnSpc>
              <a:defRPr/>
            </a:pPr>
            <a:r>
              <a:rPr lang="en-US" b="true" i="false" strike="noStrike" u="none" sz="4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战略总结与展望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战略回顾总结与长期发展思考方向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执行摘要：核心战略与产品定位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143000" y="1905000"/>
            <a:ext cx="762000" cy="762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2286000" y="1778000"/>
            <a:ext cx="889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核心战略方向：从功能开发转向价值创造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1200"/>
              </a:spcBef>
            </a:pP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全面摒弃单纯的“功能堆砌”模式，确立以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用户体验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场景应用</a:t>
            </a:r>
            <a:r>
              <a:rPr lang="en-US" b="false" i="false" strike="noStrike" u="none" sz="14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为核心的价值创造体系。致力于打造能真正解决用户痛点、深度融入日常工作与生活的智能生产力工具，构建差异化竞争壁垒。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683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79500" y="4191000"/>
            <a:ext cx="711200" cy="711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095500" y="4064000"/>
            <a:ext cx="355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ClawsJoy：企业级AI操作系统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作为产品矩阵的“基座”，提供强大、稳定的底层AI算力与灵活开放的应用集成框架。它是企业实现业务自动化、流程重构及高效生产力的核心引擎。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683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540500" y="4191000"/>
            <a:ext cx="711200" cy="711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556500" y="4064000"/>
            <a:ext cx="3556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Joy Mate：个人智能助手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10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作为连接用户与AI能力的“友好界面”，聚焦高频、碎片化场景。提供懂你心意的个性化推荐与服务，帮助个人用户轻松完成信息处理、日程规划与灵感激发。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执行摘要：三大业务支柱与第一阶段目标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778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三大业务支柱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540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206500" y="2794000"/>
            <a:ext cx="609600" cy="6096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2032000" y="27305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个人AI助手 (Joy Mate)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聚焦个人知识管理、内容创作与日常效率提升，打造用户专属AI伙伴。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810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206500" y="40640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032000" y="40005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企业AI生产力 (ClawsJoy)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赋能企业在内容营销、内部协同与客户服务等领域，实现全流程智能化升级。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5080000"/>
            <a:ext cx="4699000" cy="1143000"/>
          </a:xfrm>
          <a:prstGeom prst="roundRect">
            <a:avLst>
              <a:gd name="adj" fmla="val 8888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206500" y="5334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2032000" y="5270500"/>
            <a:ext cx="342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垂直行业AI解决方案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针对自媒体、电商、餐饮等高频场景，提供深度定制的AI应用与工具链。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1524000"/>
            <a:ext cx="5207000" cy="4826000"/>
          </a:xfrm>
          <a:prstGeom prst="roundRect">
            <a:avLst>
              <a:gd name="adj" fmla="val 3157"/>
            </a:avLst>
          </a:prstGeom>
          <a:solidFill>
            <a:srgbClr val="FFFFFF">
              <a:alpha val="95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77000" y="17780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第一阶段核心目标 (未来两周)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540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629400" y="2692400"/>
            <a:ext cx="355600" cy="355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7112000" y="2667000"/>
            <a:ext cx="152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优化Joy Mate体验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全面提升语音交互的流畅度，同步升级界面设计，打造更舒适的视觉体验。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890000" y="2540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042400" y="2692400"/>
            <a:ext cx="355600" cy="3556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525000" y="2667000"/>
            <a:ext cx="152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强化ClawsJoy功能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上线多城市、多风格的宣传片模板库，实现营销素材的“一键自动生成”。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445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6629400" y="4597400"/>
            <a:ext cx="355600" cy="3556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4572000"/>
            <a:ext cx="152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拓展内容场景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上线小红书种草文案与公众号推文生成助手，精准匹配主流社交媒体平台。</a:t>
            </a:r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8890000" y="4445000"/>
            <a:ext cx="2286000" cy="1714500"/>
          </a:xfrm>
          <a:prstGeom prst="roundRect">
            <a:avLst>
              <a:gd name="adj" fmla="val 5925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9042400" y="4597400"/>
            <a:ext cx="355600" cy="3556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9525000" y="4572000"/>
            <a:ext cx="1524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布局企业服务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完成企业微信集成开发，为企业私域流量运营提供即时的AI内容与互动支持。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市场洞察：国内市场五大核心趋势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65200" y="1854200"/>
            <a:ext cx="508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803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AI应用平民化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65200" y="2413000"/>
            <a:ext cx="28956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深度解读：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技术门槛显著降低，用户更期望通过自然语言直接解决问题，催生对“超级个人助理”的广泛需求。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战略机遇：</a:t>
            </a: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Joy Mate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打造“零门槛”交互界面，实现深度“人机协同”体验。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648200" y="1854200"/>
            <a:ext cx="508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826000" y="1803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内容创作需求爆发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48200" y="2413000"/>
            <a:ext cx="28956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深度解读：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短视频与直播等内容形态呈井喷式增长，“质”与“量”成为行业核心痛点，高效内容生成工具已成为刚需。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战略机遇：</a:t>
            </a: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提供全链路内容自动化解决方案，显著提升企业生产效率。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331200" y="1854200"/>
            <a:ext cx="508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509000" y="1803400"/>
            <a:ext cx="2667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多租户SaaS普及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31200" y="2413000"/>
            <a:ext cx="28956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深度解读：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大量中小企业倾向于采用灵活、低成本的SaaS模式，市场迫切需要兼具高性价比与安全性的AI解决方案。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战略机遇：</a:t>
            </a: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采用多租户SaaS架构，支持快速部署和按需付费模式。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778000" y="4191000"/>
            <a:ext cx="4191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981200" y="4394200"/>
            <a:ext cx="508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159000" y="43434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数据安全合规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981200" y="4953000"/>
            <a:ext cx="37846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深度解读：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全球与国内隐私法规趋严，企业对数据安全高度重视，“数据不出域”已成为企业级客户的硬性合规要求。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战略机遇：</a:t>
            </a: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提供私有化部署和严格的数据隔离方案，构筑客户信任基石。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91000"/>
            <a:ext cx="4191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426200" y="4394200"/>
            <a:ext cx="50800" cy="254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604000" y="43434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私域运营深化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26200" y="4953000"/>
            <a:ext cx="37846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💡 深度解读：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企业微信等平台已成为企业连接用户的核心阵地，如何提供个性化、高效率的服务成为业务增长的关键抓手。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🚀 战略机遇：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将</a:t>
            </a:r>
            <a:r>
              <a:rPr lang="en-US" b="tru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Joy Mate &amp; ClawsJoy</a:t>
            </a:r>
            <a:r>
              <a:rPr lang="en-US" b="false" i="false" strike="noStrike" u="none" sz="1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能力集成到私域触点，打造智能客服与营销助手。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核心业务板块规划：三大业务矩阵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我们规划了三大业务板块，形成从个人到企业、从通用到垂直的立体化产品矩阵。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457200" cy="4572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651000" y="25654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个人AI助手 (Joy Mate)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打造你的第二大脑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31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为个人用户提供一站式智能服务，覆盖信息获取、知识管理、内容创作和日常事务处理，让AI成为每个人最得力的私人助理。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540000"/>
            <a:ext cx="457200" cy="4572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334000" y="25654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企业AI生产力 (ClawsJoy)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赋能企业智能增长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31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为企业提供底层AI能力和上层应用套件，打通业务全流程，驱动内容生产自动化、内部协同智能化和客户服务体验升级。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286000"/>
            <a:ext cx="3302000" cy="3937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5400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9017000" y="2565400"/>
            <a:ext cx="2159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垂直行业AI解决方案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82000" y="34290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深耕场景，创造壁垒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382000" y="431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针对金融、医疗、制造等特定行业的独特业务逻辑与需求，提供深度定制的AI解决方案，以Know-how结合技术建立行业竞争壁垒。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业务板块一：个人AI助手 (Joy Mate) - 打造你的第二大脑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812800" cy="22860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65200" y="2286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701800" y="1841500"/>
            <a:ext cx="215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智能对话助手</a:t>
            </a:r>
            <a:r>
              <a:rPr lang="en-US" b="false" i="false" strike="noStrike" u="none" sz="1200">
                <a:solidFill>
                  <a:srgbClr val="FFFFFF"/>
                </a:solidFill>
                <a:highlight>
                  <a:srgbClr val="10B981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信息过载，查找耗时；上下文理解差。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流畅的语音/文字交互，精准理解用户意图。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812800" cy="2286000"/>
          </a:xfrm>
          <a:prstGeom prst="roundRect">
            <a:avLst>
              <a:gd name="adj" fmla="val 1250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48200" y="2286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384800" y="1841500"/>
            <a:ext cx="215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文案生成</a:t>
            </a:r>
            <a:r>
              <a:rPr lang="en-US" b="false" i="false" strike="noStrike" u="none" sz="1200">
                <a:solidFill>
                  <a:srgbClr val="FFFFFF"/>
                </a:solidFill>
                <a:highlight>
                  <a:srgbClr val="10B981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P0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灵感枯竭，撰写耗时，风格难统一。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一键生成朋友圈、小红书、公众号文案。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1651000"/>
            <a:ext cx="812800" cy="2286000"/>
          </a:xfrm>
          <a:prstGeom prst="roundRect">
            <a:avLst>
              <a:gd name="adj" fmla="val 1250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31200" y="2286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9067800" y="1841500"/>
            <a:ext cx="2159000" cy="190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个人知识库</a:t>
            </a:r>
            <a:r>
              <a:rPr lang="en-US" b="false" i="false" strike="noStrike" u="none" sz="1200">
                <a:solidFill>
                  <a:srgbClr val="FFFFFF"/>
                </a:solidFill>
                <a:highlight>
                  <a:srgbClr val="3B82F6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资料分散，难以检索和复用。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自动收集、整理、归纳个人信息，支持自然语言检索。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2286000" y="4191000"/>
            <a:ext cx="3683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286000" y="4191000"/>
            <a:ext cx="812800" cy="2159000"/>
          </a:xfrm>
          <a:prstGeom prst="roundRect">
            <a:avLst>
              <a:gd name="adj" fmla="val 1250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2489200" y="48895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3225800" y="4381500"/>
            <a:ext cx="2667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日程/任务管理</a:t>
            </a:r>
            <a:r>
              <a:rPr lang="en-US" b="false" i="false" strike="noStrike" u="none" sz="1200">
                <a:solidFill>
                  <a:srgbClr val="FFFFFF"/>
                </a:solidFill>
                <a:highlight>
                  <a:srgbClr val="3B82F6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P1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手动记录繁琐，易遗漏重要待办事项。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自然语言创建、修改和查询日程任务，轻松管理时间。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23000" y="4191000"/>
            <a:ext cx="3683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4191000"/>
            <a:ext cx="812800" cy="2159000"/>
          </a:xfrm>
          <a:prstGeom prst="roundRect">
            <a:avLst>
              <a:gd name="adj" fmla="val 1250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6426200" y="48895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7162800" y="4381500"/>
            <a:ext cx="26670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图片处理</a:t>
            </a:r>
            <a:r>
              <a:rPr lang="en-US" b="false" i="false" strike="noStrike" u="none" sz="1200">
                <a:solidFill>
                  <a:srgbClr val="FFFFFF"/>
                </a:solidFill>
                <a:highlight>
                  <a:srgbClr val="F59E0B">
                    <a:alpha val="10000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P2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痛点：</a:t>
            </a: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专业修图软件学习成本高，操作门槛高。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方案：</a:t>
            </a:r>
            <a:r>
              <a:rPr lang="en-US" b="false" i="false" strike="noStrike" u="none" sz="11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AI图片描述、风格转换、智能抠图等轻量级便捷编辑。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业务板块二：企业AI生产力 (ClawsJoy) - 赋能企业智能增长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42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184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宣传片自动生成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21000" y="1841500"/>
            <a:ext cx="1016000" cy="330200"/>
          </a:xfrm>
          <a:prstGeom prst="roundRect">
            <a:avLst>
              <a:gd name="adj" fmla="val 38461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921000" y="18542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P0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2413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🔴 用户痛点：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制作成本高、周期长，难以快速响应市场变化。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🟢 解决方案：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一键生成专业水准的企业宣传视频，内置多行业风格模板，支持自定义。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1651000"/>
            <a:ext cx="342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3815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35500" y="184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客户服务Bot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540500" y="1841500"/>
            <a:ext cx="1016000" cy="330200"/>
          </a:xfrm>
          <a:prstGeom prst="roundRect">
            <a:avLst>
              <a:gd name="adj" fmla="val 38461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540500" y="18542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P1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35500" y="2413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🔴 用户痛点：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人工客服成本高昂，简单重复的咨询占用大量人力与时间。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🟢 解决方案：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AI机器人集成官网、APP等多渠道，实现7x24小时自动回复，释放人力资源。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001000" y="1651000"/>
            <a:ext cx="3429000" cy="2286000"/>
          </a:xfrm>
          <a:prstGeom prst="roundRect">
            <a:avLst>
              <a:gd name="adj" fmla="val 4444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001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255000" y="184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社交媒体运营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0" y="1841500"/>
            <a:ext cx="1016000" cy="330200"/>
          </a:xfrm>
          <a:prstGeom prst="roundRect">
            <a:avLst>
              <a:gd name="adj" fmla="val 38461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0" y="18542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P1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0" y="2413000"/>
            <a:ext cx="292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🔴 用户痛点：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多平台内容分发繁琐耗时，难以长期保持高质量与高频更新。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🟢 解决方案：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跨平台内容自动生成、智能排版，并支持定时一键发布。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413000" y="4191000"/>
            <a:ext cx="3683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2413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2667000" y="438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内部知识问答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699000" y="4381500"/>
            <a:ext cx="1016000" cy="330200"/>
          </a:xfrm>
          <a:prstGeom prst="roundRect">
            <a:avLst>
              <a:gd name="adj" fmla="val 38461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699000" y="43942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P1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2667000" y="4953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🔴 用户痛点：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企业文档分散存储在不同位置，信息查找困难，新人培训效率低。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2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🟢 解决方案：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构建企业专属知识库，支持自然语言快速检索，即时获取精准信息。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4191000"/>
            <a:ext cx="3683000" cy="2159000"/>
          </a:xfrm>
          <a:prstGeom prst="roundRect">
            <a:avLst>
              <a:gd name="adj" fmla="val 4705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4191000"/>
            <a:ext cx="76200" cy="2159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731000" y="4381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报表与数据分析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763000" y="4381500"/>
            <a:ext cx="1016000" cy="330200"/>
          </a:xfrm>
          <a:prstGeom prst="roundRect">
            <a:avLst>
              <a:gd name="adj" fmla="val 38461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763000" y="4394200"/>
            <a:ext cx="101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PRIORITY P2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6731000" y="4953000"/>
            <a:ext cx="3175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🔴 用户痛点：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数据分析门槛高，业务人员难以自主处理数据，获取业务洞察滞后。</a:t>
            </a:r>
            <a:r>
              <a:rPr lang="en-US" b="false" i="false" strike="noStrike" u="none" sz="12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true" i="false" strike="noStrike" u="none" sz="12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🟢 解决方案：</a:t>
            </a:r>
            <a:r>
              <a:rPr lang="en-US" b="false" i="false" strike="noStrike" u="none" sz="12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通过自然语言指令，自动生成多维度数据报表和动态可视化图表。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业务板块三：垂直行业AI解决方案 — 深耕场景，创造壁垒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952500" y="184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自媒体行业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2921000" y="1841500"/>
            <a:ext cx="762000" cy="330200"/>
          </a:xfrm>
          <a:prstGeom prst="roundRect">
            <a:avLst>
              <a:gd name="adj" fmla="val 15384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2921000" y="18669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P0 级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413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爆款内容打造难，选题、脚本创作耗时长，人力成本高。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解决方案：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提供AI爆款选题生成、黄金标题库、分镜脚本生成等一站式创作服务。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635500" y="184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电商零售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604000" y="1841500"/>
            <a:ext cx="762000" cy="330200"/>
          </a:xfrm>
          <a:prstGeom prst="roundRect">
            <a:avLst>
              <a:gd name="adj" fmla="val 15384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604000" y="18669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 级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2413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海量商品描述同质化严重，售前售后客服咨询压力大，转化率低。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3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解决方案：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自动生成差异化商品卖点文案、智能客服问答、营销活动种草文案。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651000"/>
            <a:ext cx="3302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18500" y="1841500"/>
            <a:ext cx="190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餐饮美食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0287000" y="1841500"/>
            <a:ext cx="762000" cy="330200"/>
          </a:xfrm>
          <a:prstGeom prst="roundRect">
            <a:avLst>
              <a:gd name="adj" fmla="val 15384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10287000" y="18669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P1 级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318500" y="2413000"/>
            <a:ext cx="2921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菜单介绍平淡缺乏吸引力，短视频营销创意枯竭，难以触达年轻客群。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3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解决方案：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AI自动生成菜品故事、卖点介绍及营销短视频脚本，提升线上传播力。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191000"/>
            <a:ext cx="5270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52500" y="4381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教育培训行业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699000" y="4381500"/>
            <a:ext cx="762000" cy="330200"/>
          </a:xfrm>
          <a:prstGeom prst="roundRect">
            <a:avLst>
              <a:gd name="adj" fmla="val 15384"/>
            </a:avLst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4699000" y="44069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 级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52500" y="49530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老师制作课程PPT、课件耗时，海量练习题出题与批改工作量巨大，难以兼顾个性化教学。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true" i="false" strike="noStrike" u="none" sz="1300">
                <a:solidFill>
                  <a:srgbClr val="6366F1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方案：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自动生成课程大纲与PPT课件、AI智能出题、客观题自动批改与学情分析。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86500" y="4191000"/>
            <a:ext cx="52705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477000" y="4381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房产与中介服务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10223500" y="4381500"/>
            <a:ext cx="762000" cy="330200"/>
          </a:xfrm>
          <a:prstGeom prst="roundRect">
            <a:avLst>
              <a:gd name="adj" fmla="val 15384"/>
            </a:avLst>
          </a:prstGeom>
          <a:solidFill>
            <a:srgbClr val="6B728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223500" y="4406900"/>
            <a:ext cx="762000" cy="279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P2 级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477000" y="4953000"/>
            <a:ext cx="4889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💡 痛点：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海量房源描述千篇一律，无法生动突出户型与配套亮点，吸引客户咨询转化难。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600"/>
              </a:spcBef>
            </a:pPr>
            <a:r>
              <a:rPr lang="en-US" b="true" i="false" strike="noStrike" u="none" sz="1300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🛠️ 方案：</a:t>
            </a: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基于户型图与周边配套自动生成生动专业的推广文案、短视频口播稿及营销海报文案。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9FAFB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第一阶段目标：优化 Joy Mate 用户体验 (1周)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397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79500" y="1587500"/>
            <a:ext cx="10033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 Joy Mate 从一个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“能用”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的工具，全面升级为一个</a:t>
            </a: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“好用”</a:t>
            </a:r>
            <a:r>
              <a:rPr lang="en-US" b="false" i="false" strike="noStrike" u="none" sz="18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的智能伙伴，通过体验升级显著提升产品的用户留存率与核心活跃度。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2794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952500" y="29845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921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↓ 30%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语音交互平均响应时间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67100" y="2794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3657600" y="29845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4102100" y="2921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↓ 20%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用户会话中断率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172200" y="2794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6362700" y="29845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807200" y="2921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↑ 15%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新用户次日留存率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77300" y="2794000"/>
            <a:ext cx="2540000" cy="1651000"/>
          </a:xfrm>
          <a:prstGeom prst="roundRect">
            <a:avLst>
              <a:gd name="adj" fmla="val 615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067800" y="29845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9512300" y="2921000"/>
            <a:ext cx="1714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4.5+ ★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应用商店综合评分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4699000"/>
            <a:ext cx="2032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914400" y="4851400"/>
            <a:ext cx="279400" cy="279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270000" y="4826000"/>
            <a:ext cx="139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语音交互优化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优化底层模型，大幅减少延迟，支持用户自定义唤醒词。</a:t>
            </a:r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2997200" y="4699000"/>
            <a:ext cx="2032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0" flipH="false" flipV="false">
            <a:off x="3149600" y="4851400"/>
            <a:ext cx="279400" cy="279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3505200" y="4826000"/>
            <a:ext cx="139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界面美化适配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重构移动端 UI，采用响应式设计以适配不同尺寸的设备。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232400" y="4699000"/>
            <a:ext cx="2032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0" flipH="false" flipV="false">
            <a:off x="5384800" y="4851400"/>
            <a:ext cx="279400" cy="279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5740400" y="4826000"/>
            <a:ext cx="139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首次引导优化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设计全新的 Onboarding 流程，帮助用户快速上手核心功能。</a:t>
            </a:r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467600" y="4699000"/>
            <a:ext cx="2032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0" flipH="false" flipV="false">
            <a:off x="7620000" y="4851400"/>
            <a:ext cx="279400" cy="279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975600" y="4826000"/>
            <a:ext cx="139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错误友好提示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统一错误提示文案风格，并提供清晰、可执行的解决方案建议。</a:t>
            </a:r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9702800" y="4699000"/>
            <a:ext cx="2032000" cy="1841500"/>
          </a:xfrm>
          <a:prstGeom prst="roundRect">
            <a:avLst>
              <a:gd name="adj" fmla="val 5517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0" flipH="false" flipV="false">
            <a:off x="9855200" y="4851400"/>
            <a:ext cx="279400" cy="279400"/>
          </a:xfrm>
          <a:prstGeom prst="rect">
            <a:avLst/>
          </a:prstGeom>
        </p:spPr>
      </p:pic>
      <p:sp>
        <p:nvSpPr>
          <p:cNvPr name="AutoShape 33" id="33"/>
          <p:cNvSpPr/>
          <p:nvPr/>
        </p:nvSpPr>
        <p:spPr>
          <a:xfrm rot="0" flipH="false" flipV="false">
            <a:off x="10210800" y="4826000"/>
            <a:ext cx="1397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会话上下文记忆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6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优化对话引擎，确保在多轮对话中逻辑连贯、记忆准确。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第一阶段目标：完善 ClawsJoy 宣传片制作 (3天)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1778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714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将宣传片制作功能打造为 ClawsJoy 的明星功能，提供丰富的模板和素材，实现一键式高质量视频生成，降低创作门槛。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207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3655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99%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制作成功率</a:t>
            </a:r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2476500" y="33655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&lt; 5min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平均制作耗时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064000" y="3365500"/>
            <a:ext cx="152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400"/>
              </a:spcBef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模板使用率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4826000"/>
            <a:ext cx="5207000" cy="1651000"/>
          </a:xfrm>
          <a:prstGeom prst="roundRect">
            <a:avLst>
              <a:gd name="adj" fmla="val 9230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4978400"/>
            <a:ext cx="215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多城市模板开发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覆盖港/沪/京/深等核心城市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3429000" y="50165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3810000" y="4978400"/>
            <a:ext cx="203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多风格模板开发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科技/复古/温馨/大气等风格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1016000" y="5715000"/>
            <a:ext cx="254000" cy="2540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1397000" y="5676900"/>
            <a:ext cx="2159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内置素材库扩展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扩充高清图/曲库/视频素材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0" flipH="false" flipV="false">
            <a:off x="3429000" y="57150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3810000" y="5676900"/>
            <a:ext cx="2032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制作进度可视化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优化进度条与状态提示体验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3"/>
          <a:srcRect l="1271" r="1271" t="0" b="0"/>
          <a:stretch>
            <a:fillRect/>
          </a:stretch>
        </p:blipFill>
        <p:spPr>
          <a:xfrm rot="0" flipH="false" flipV="false">
            <a:off x="6223000" y="1778000"/>
            <a:ext cx="5207000" cy="3556000"/>
          </a:xfrm>
          <a:prstGeom prst="roundRect">
            <a:avLst>
              <a:gd name="adj" fmla="val 4285"/>
            </a:avLst>
          </a:prstGeom>
          <a:noFill/>
          <a:ln w="38100" cmpd="sng" cap="flat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</p:pic>
      <p:sp>
        <p:nvSpPr>
          <p:cNvPr name="AutoShape 21" id="21"/>
          <p:cNvSpPr/>
          <p:nvPr/>
        </p:nvSpPr>
        <p:spPr>
          <a:xfrm rot="0" flipH="false" flipV="false">
            <a:off x="6223000" y="5524500"/>
            <a:ext cx="5207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 宣传片制作界面预览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  <a:spcBef>
                <a:spcPts val="600"/>
              </a:spcBef>
            </a:pPr>
            <a:r>
              <a:rPr lang="en-US" b="false" i="fals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直观高效的移动端剪辑体验，让视频创作更简单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第一阶段目标：社交平台内容助手 (1周)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397000"/>
            <a:ext cx="10668000" cy="1079500"/>
          </a:xfrm>
          <a:prstGeom prst="roundRect">
            <a:avLst>
              <a:gd name="adj" fmla="val 14117"/>
            </a:avLst>
          </a:prstGeom>
          <a:solidFill>
            <a:srgbClr val="FFFFFF">
              <a:alpha val="90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651000"/>
            <a:ext cx="1016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b="false" i="false" strike="noStrike" u="none" sz="1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上线针对主流社交平台的内容生成功能，打通内容生产与分发全链路，帮助用户将灵感转化为高质量内容并高效发布。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794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952500" y="3048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📊 阶段衡量指标 (KPIs)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3810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ECFDF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79500" y="3937000"/>
            <a:ext cx="266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1,000+ 次/日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主流平台文案生成功能总调用量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5080000"/>
            <a:ext cx="2921000" cy="1079500"/>
          </a:xfrm>
          <a:prstGeom prst="roundRect">
            <a:avLst>
              <a:gd name="adj" fmla="val 9411"/>
            </a:avLst>
          </a:prstGeom>
          <a:solidFill>
            <a:srgbClr val="EFF6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079500" y="5207000"/>
            <a:ext cx="2667000" cy="825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0000"/>
              </a:lnSpc>
              <a:defRPr/>
            </a:pPr>
            <a:r>
              <a:rPr lang="en-US" b="true" i="false" strike="noStrike" u="none" sz="2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70% +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用户对生成文案的最终采纳率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2794000"/>
            <a:ext cx="3302000" cy="355600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3"/>
          <a:srcRect l="0" r="0" t="33388" b="33388"/>
          <a:stretch>
            <a:fillRect/>
          </a:stretch>
        </p:blipFill>
        <p:spPr>
          <a:xfrm rot="0" flipH="false" flipV="false">
            <a:off x="4572000" y="3048000"/>
            <a:ext cx="2794000" cy="1651000"/>
          </a:xfrm>
          <a:prstGeom prst="roundRect">
            <a:avLst>
              <a:gd name="adj" fmla="val 6153"/>
            </a:avLst>
          </a:prstGeom>
          <a:noFill/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</p:spPr>
      </p:pic>
      <p:sp>
        <p:nvSpPr>
          <p:cNvPr name="AutoShape 14" id="14"/>
          <p:cNvSpPr/>
          <p:nvPr/>
        </p:nvSpPr>
        <p:spPr>
          <a:xfrm rot="0" flipH="false" flipV="false">
            <a:off x="4508500" y="4953000"/>
            <a:ext cx="2921000" cy="1206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🍠 小红书 · 种草神器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爆款种草文案一键生成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基于笔记内容的AI配图风格建议</a:t>
            </a:r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874000" y="2794000"/>
            <a:ext cx="3556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rcRect l="0" r="0" t="23254" b="23254"/>
          <a:stretch>
            <a:fillRect/>
          </a:stretch>
        </p:blipFill>
        <p:spPr>
          <a:xfrm rot="0" flipH="false" flipV="false">
            <a:off x="8064500" y="2984500"/>
            <a:ext cx="1079500" cy="1333500"/>
          </a:xfrm>
          <a:prstGeom prst="roundRect">
            <a:avLst>
              <a:gd name="adj" fmla="val 9411"/>
            </a:avLst>
          </a:prstGeom>
          <a:noFill/>
          <a:ln w="12700" cmpd="sng" cap="flat">
            <a:solidFill>
              <a:srgbClr val="F3F4F6">
                <a:alpha val="100000"/>
              </a:srgbClr>
            </a:solidFill>
            <a:prstDash val="solid"/>
            <a:round/>
          </a:ln>
        </p:spPr>
      </p:pic>
      <p:sp>
        <p:nvSpPr>
          <p:cNvPr name="AutoShape 17" id="17"/>
          <p:cNvSpPr/>
          <p:nvPr/>
        </p:nvSpPr>
        <p:spPr>
          <a:xfrm rot="0" flipH="false" flipV="false">
            <a:off x="9271000" y="2984500"/>
            <a:ext cx="2032000" cy="1333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✍️ 公众号 · 排版专家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自动优化文章段落排版结构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智能匹配配图与发布格式检查</a:t>
            </a:r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874000" y="4635500"/>
            <a:ext cx="3556000" cy="17145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12700" cmpd="sng" cap="flat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8064500" y="4889500"/>
            <a:ext cx="406400" cy="4064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699500" y="4889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9271000" y="4826000"/>
            <a:ext cx="203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📱 多元平台轻创作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短视频：黄金3秒脚本与吸睛标题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朋友圈：适配社交语境的短文案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第一阶段目标：企业微信/私域集成 (2周)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1905000"/>
            <a:ext cx="4699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阶段核心目标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16666"/>
              </a:lnSpc>
              <a:spcBef>
                <a:spcPts val="800"/>
              </a:spcBef>
            </a:pPr>
            <a:r>
              <a:rPr lang="en-US" b="false" i="false" strike="noStrike" u="none" sz="14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完成ClawsJoy与企业微信的深度集成，打通私域流量运营的关键链路，为企业客户提供“AI+企微”的自动化运营能力，实现从流量获取到转化的智能化升级。</a:t>
            </a:r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3302000"/>
            <a:ext cx="2222500" cy="1778000"/>
          </a:xfrm>
          <a:prstGeom prst="roundRect">
            <a:avLst>
              <a:gd name="adj" fmla="val 5714"/>
            </a:avLst>
          </a:prstGeom>
          <a:solidFill>
            <a:srgbClr val="ECFDF5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556000"/>
            <a:ext cx="1968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10+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种子企业接入测试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完成核心功能验证与验收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3492500" y="3302000"/>
            <a:ext cx="2222500" cy="1778000"/>
          </a:xfrm>
          <a:prstGeom prst="roundRect">
            <a:avLst>
              <a:gd name="adj" fmla="val 5714"/>
            </a:avLst>
          </a:prstGeom>
          <a:solidFill>
            <a:srgbClr val="EFF6FF">
              <a:alpha val="100000"/>
            </a:srgbClr>
          </a:solidFill>
          <a:ln w="12700" cmpd="sng" cap="flat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619500" y="3556000"/>
            <a:ext cx="19685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3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自动回复准确率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企微Bot 问答精准度达标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016000" y="5334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false" i="true" strike="noStrike" u="none" sz="12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 注：所有开发任务需在两周内完成，包含代码开发、内部测试及文档交付。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3"/>
          <a:srcRect l="15661" r="15661" t="0" b="0"/>
          <a:stretch>
            <a:fillRect/>
          </a:stretch>
        </p:blipFill>
        <p:spPr>
          <a:xfrm rot="0" flipH="false" flipV="false">
            <a:off x="6477000" y="1905000"/>
            <a:ext cx="635000" cy="635000"/>
          </a:xfrm>
          <a:prstGeom prst="roundRect">
            <a:avLst>
              <a:gd name="adj" fmla="val 16000"/>
            </a:avLst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3" id="13"/>
          <p:cNvSpPr/>
          <p:nvPr/>
        </p:nvSpPr>
        <p:spPr>
          <a:xfrm rot="0" flipH="false" flipV="false">
            <a:off x="7366000" y="19685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功能规划矩阵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921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67500" y="3175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7239000" y="3111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企微 Bot 插件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开发机器人插件，实现7*24h自动响应客户咨询。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2921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144000" y="3175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715500" y="3111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多租户隔离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严格的数据隔离架构，确保不同企业间数据互不相通。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4572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67500" y="4826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239000" y="4762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知识库客服问答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支持企业上传业务知识库，快速训练专属客服模型。</a:t>
            </a:r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953500" y="4572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9144000" y="48260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9715500" y="4762500"/>
            <a:ext cx="14605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营销素材自动推送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0000"/>
              </a:lnSpc>
              <a:spcBef>
                <a:spcPts val="400"/>
              </a:spcBef>
            </a:pPr>
            <a:r>
              <a:rPr lang="en-US" b="false" i="false" strike="noStrike" u="none" sz="11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建立营销素材库，支持定时任务自动触达客户。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508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战略总结与展望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10668000" cy="1397000"/>
          </a:xfrm>
          <a:prstGeom prst="roundRect">
            <a:avLst>
              <a:gd name="adj" fmla="val 10909"/>
            </a:avLst>
          </a:prstGeom>
          <a:solidFill>
            <a:srgbClr val="FFFFFF">
              <a:alpha val="95000"/>
            </a:srgbClr>
          </a:solidFill>
          <a:ln w="25400" cmpd="sng" cap="flat">
            <a:solidFill>
              <a:srgbClr val="10B981">
                <a:alpha val="100000"/>
              </a:srgbClr>
            </a:solidFill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524000"/>
            <a:ext cx="101600" cy="1397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143000" y="1714500"/>
            <a:ext cx="990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16666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战略核心：</a:t>
            </a:r>
            <a:r>
              <a:rPr lang="en-US" b="false" i="false" strike="noStrike" u="none" sz="16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ClawsJoy 从“能用”到“好用”，Joy Mate 从“功能”到“场景”。我们将聚焦用户真实需求，深耕内容创作与智能助手两大领域，致力于打造国内领先的 AI 实用工具矩阵。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175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3492500"/>
            <a:ext cx="635000" cy="635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905000" y="3365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GTM 策略 (Go-to-Market)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如何针对不同用户群体制定差异化的市场进入策略和定价模型？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3175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6477000" y="3492500"/>
            <a:ext cx="635000" cy="635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7366000" y="3365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PLG 增长飞轮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如何设计产品驱动增长的机制，让用户自发地进行分享和传播？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4953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635000" cy="635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905000" y="5143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技术壁垒构建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如何在底层算法、数据处理等方面构建长期的技术护城河？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953000"/>
            <a:ext cx="5207000" cy="1524000"/>
          </a:xfrm>
          <a:prstGeom prst="roundRect">
            <a:avLst>
              <a:gd name="adj" fmla="val 6666"/>
            </a:avLst>
          </a:prstGeom>
          <a:solidFill>
            <a:srgbClr val="FFFFFF">
              <a:alpha val="90000"/>
            </a:srgbClr>
          </a:solidFill>
          <a:ln w="25400" cmpd="sng" cap="flat">
            <a:noFill/>
            <a:prstDash val="solid"/>
            <a:round/>
          </a:ln>
          <a:effectLst>
            <a:outerShdw dir="2700000" dist="190500" blurRad="444500" algn="tl" rotWithShape="false">
              <a:srgbClr val="000000">
                <a:alpha val="2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6477000" y="5270500"/>
            <a:ext cx="635000" cy="635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366000" y="5143500"/>
            <a:ext cx="38100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true" i="false" strike="noStrike" u="none" sz="170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生态系统建设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08333"/>
              </a:lnSpc>
              <a:spcBef>
                <a:spcPts val="800"/>
              </a:spcBef>
            </a:pPr>
            <a:r>
              <a:rPr lang="en-US" b="false" i="false" strike="noStrike" u="none" sz="13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如何开放 API，吸引第三方开发者，构建繁荣的应用生态？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blipFill dpi="0" rotWithShape="true">
          <a:blip r:embed="rId2">
            <a:lum/>
          </a:blip>
          <a:srcRect/>
          <a:stretch>
            <a:fillRect l="0" t="0" r="0" b="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0" y="1778000"/>
            <a:ext cx="12192000" cy="165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9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THANKS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3683000"/>
            <a:ext cx="12192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72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Q &amp; A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5334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感谢您的聆听 | 欢迎提问交流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